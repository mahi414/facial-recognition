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687CBA4-F9EC-464F-B905-9928A954A51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5117EB-7C44-420F-B1D2-937461A667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ABD242-FD21-4596-ADC8-3BC8974AB0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4E50F6-3F9F-4D0A-BB6F-DBC811B02A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37589B-FD99-4292-8ED7-A0F8A220D2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A7703F-F311-4B7E-A7E1-ABE1EC9003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5210640" cy="68565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40080" y="1554480"/>
            <a:ext cx="411336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FACIAL EMOTION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DETECTION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3520440"/>
            <a:ext cx="40219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4892040"/>
            <a:ext cx="40219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Presented by: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Mahi Jha and Vanshika Kandpal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0080" y="5193720"/>
            <a:ext cx="40219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MCA — NIT Warangal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5468040"/>
            <a:ext cx="40219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Python Lab Project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Image 0" descr="/home/claude/pptx_proj/hero_face.png"/>
          <p:cNvPicPr/>
          <p:nvPr/>
        </p:nvPicPr>
        <p:blipFill>
          <a:blip r:embed="rId1"/>
          <a:stretch/>
        </p:blipFill>
        <p:spPr>
          <a:xfrm>
            <a:off x="5989320" y="777240"/>
            <a:ext cx="5347800" cy="534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48640" y="365760"/>
            <a:ext cx="1109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Project Overview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48640" y="647388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1277360" y="647388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9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28840" y="1207080"/>
            <a:ext cx="50734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Detects a human face from an image or webcam input.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523080" y="1869120"/>
            <a:ext cx="50734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The detected face is processed and given to a trained CNN model.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63760" y="2612880"/>
            <a:ext cx="50734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The model classifies the visible facial expression into one of seven predefined categories.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563760" y="3377160"/>
            <a:ext cx="50734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2430"/>
                </a:solidFill>
                <a:latin typeface="Calibri"/>
                <a:ea typeface="Calibri"/>
              </a:rPr>
              <a:t>The prediction is displayed through a simple Streamlit interface.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8640" y="4335840"/>
            <a:ext cx="5256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mbria"/>
                <a:ea typeface="Cambria"/>
              </a:rPr>
              <a:t>Problem Being Solved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58640" y="4847760"/>
            <a:ext cx="52563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b2430"/>
                </a:solidFill>
                <a:latin typeface="Calibri"/>
                <a:ea typeface="Calibri"/>
              </a:rPr>
              <a:t>Manual interpretation of facial expressions can be subjective and difficult when many faces need to be analyzed. This project demonstrates an automated approach to facial-expression classification.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629400" y="1234440"/>
            <a:ext cx="5027760" cy="1873080"/>
          </a:xfrm>
          <a:prstGeom prst="roundRect">
            <a:avLst>
              <a:gd name="adj" fmla="val 4878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6858000" y="1481400"/>
            <a:ext cx="1415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Face Image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784920" y="1938600"/>
            <a:ext cx="1187280" cy="5929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4" descr="/home/claude/pptx_proj/icon_face.png"/>
          <p:cNvPicPr/>
          <p:nvPr/>
        </p:nvPicPr>
        <p:blipFill>
          <a:blip r:embed="rId1"/>
          <a:stretch/>
        </p:blipFill>
        <p:spPr>
          <a:xfrm>
            <a:off x="7086600" y="2048400"/>
            <a:ext cx="382680" cy="382680"/>
          </a:xfrm>
          <a:prstGeom prst="rect">
            <a:avLst/>
          </a:prstGeom>
          <a:ln w="0">
            <a:noFill/>
          </a:ln>
        </p:spPr>
      </p:pic>
      <p:sp>
        <p:nvSpPr>
          <p:cNvPr id="28" name="Text 17"/>
          <p:cNvSpPr/>
          <p:nvPr/>
        </p:nvSpPr>
        <p:spPr>
          <a:xfrm>
            <a:off x="8074080" y="1874520"/>
            <a:ext cx="5472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c39a"/>
                </a:solidFill>
                <a:latin typeface="Calibri"/>
                <a:ea typeface="Calibri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8732520" y="1481400"/>
            <a:ext cx="14158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AI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8732520" y="1938600"/>
            <a:ext cx="1187280" cy="5929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Image 5" descr="/home/claude/pptx_proj/icon_brain.png"/>
          <p:cNvPicPr/>
          <p:nvPr/>
        </p:nvPicPr>
        <p:blipFill>
          <a:blip r:embed="rId2"/>
          <a:stretch/>
        </p:blipFill>
        <p:spPr>
          <a:xfrm>
            <a:off x="9034200" y="2048400"/>
            <a:ext cx="382680" cy="382680"/>
          </a:xfrm>
          <a:prstGeom prst="rect">
            <a:avLst/>
          </a:prstGeom>
          <a:ln w="0">
            <a:noFill/>
          </a:ln>
        </p:spPr>
      </p:pic>
      <p:sp>
        <p:nvSpPr>
          <p:cNvPr id="32" name="Text 20"/>
          <p:cNvSpPr/>
          <p:nvPr/>
        </p:nvSpPr>
        <p:spPr>
          <a:xfrm>
            <a:off x="9966960" y="1874520"/>
            <a:ext cx="455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c39a"/>
                </a:solidFill>
                <a:latin typeface="Calibri"/>
                <a:ea typeface="Calibri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10442520" y="1874520"/>
            <a:ext cx="1050120" cy="63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10442520" y="1874520"/>
            <a:ext cx="10501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"Happy"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6858000" y="274320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6874200" y="3558240"/>
            <a:ext cx="41133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Dataset: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FER-2013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6903720" y="411480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mbria"/>
                <a:ea typeface="Cambria"/>
              </a:rPr>
              <a:t>7 Expression Classes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6903720" y="452628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6903720" y="452628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Angry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8366760" y="452628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8366760" y="452628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Disgust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9829800" y="452628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9829800" y="452628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Fear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6903720" y="502020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6903720" y="502020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Happy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8366760" y="502020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6"/>
          <p:cNvSpPr/>
          <p:nvPr/>
        </p:nvSpPr>
        <p:spPr>
          <a:xfrm>
            <a:off x="8366760" y="502020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Sad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9829800" y="502020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8"/>
          <p:cNvSpPr/>
          <p:nvPr/>
        </p:nvSpPr>
        <p:spPr>
          <a:xfrm>
            <a:off x="9829800" y="502020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Surprise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6903720" y="5513760"/>
            <a:ext cx="1370160" cy="382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40"/>
          <p:cNvSpPr/>
          <p:nvPr/>
        </p:nvSpPr>
        <p:spPr>
          <a:xfrm>
            <a:off x="6903720" y="5513760"/>
            <a:ext cx="137016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1295c"/>
                </a:solidFill>
                <a:latin typeface="Calibri"/>
                <a:ea typeface="Calibri"/>
              </a:rPr>
              <a:t>Neutral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65760"/>
            <a:ext cx="1109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Technology Stack &amp; Project Flow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47388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277360" y="647388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9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548640" y="1097280"/>
            <a:ext cx="32904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mbria"/>
                <a:ea typeface="Cambria"/>
              </a:rPr>
              <a:t>Technology Stack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685800" y="162756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/home/claude/pptx_proj/icon_python.png"/>
          <p:cNvPicPr/>
          <p:nvPr/>
        </p:nvPicPr>
        <p:blipFill>
          <a:blip r:embed="rId1"/>
          <a:stretch/>
        </p:blipFill>
        <p:spPr>
          <a:xfrm>
            <a:off x="795600" y="173736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58" name="Text 6"/>
          <p:cNvSpPr/>
          <p:nvPr/>
        </p:nvSpPr>
        <p:spPr>
          <a:xfrm>
            <a:off x="1325880" y="159120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1325880" y="183780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Core programming language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685800" y="240480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Image 1" descr="/home/claude/pptx_proj/icon_opencv.png"/>
          <p:cNvPicPr/>
          <p:nvPr/>
        </p:nvPicPr>
        <p:blipFill>
          <a:blip r:embed="rId2"/>
          <a:stretch/>
        </p:blipFill>
        <p:spPr>
          <a:xfrm>
            <a:off x="795600" y="251460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62" name="Text 10"/>
          <p:cNvSpPr/>
          <p:nvPr/>
        </p:nvSpPr>
        <p:spPr>
          <a:xfrm>
            <a:off x="1325880" y="236844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OpenCV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1325880" y="261504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Face detection &amp; image processing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685800" y="318204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2" descr="/home/claude/pptx_proj/icon_tensorflow.png"/>
          <p:cNvPicPr/>
          <p:nvPr/>
        </p:nvPicPr>
        <p:blipFill>
          <a:blip r:embed="rId3"/>
          <a:stretch/>
        </p:blipFill>
        <p:spPr>
          <a:xfrm>
            <a:off x="795600" y="329184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66" name="Text 14"/>
          <p:cNvSpPr/>
          <p:nvPr/>
        </p:nvSpPr>
        <p:spPr>
          <a:xfrm>
            <a:off x="1325880" y="314568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TensorFlow / Keras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1325880" y="339228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CNN model development &amp; training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685800" y="395928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3" descr="/home/claude/pptx_proj/icon_numpy.png"/>
          <p:cNvPicPr/>
          <p:nvPr/>
        </p:nvPicPr>
        <p:blipFill>
          <a:blip r:embed="rId4"/>
          <a:stretch/>
        </p:blipFill>
        <p:spPr>
          <a:xfrm>
            <a:off x="795600" y="406908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70" name="Text 18"/>
          <p:cNvSpPr/>
          <p:nvPr/>
        </p:nvSpPr>
        <p:spPr>
          <a:xfrm>
            <a:off x="1325880" y="392292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NumPy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1325880" y="416952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Numerical &amp; image-array processing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685800" y="473652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4" descr="/home/claude/pptx_proj/icon_streamlit.png"/>
          <p:cNvPicPr/>
          <p:nvPr/>
        </p:nvPicPr>
        <p:blipFill>
          <a:blip r:embed="rId5"/>
          <a:stretch/>
        </p:blipFill>
        <p:spPr>
          <a:xfrm>
            <a:off x="795600" y="484632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74" name="Text 22"/>
          <p:cNvSpPr/>
          <p:nvPr/>
        </p:nvSpPr>
        <p:spPr>
          <a:xfrm>
            <a:off x="1325880" y="470016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Streamlit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1325880" y="494676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User interface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85800" y="5513760"/>
            <a:ext cx="455760" cy="45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5" descr="/home/claude/pptx_proj/icon_database.png"/>
          <p:cNvPicPr/>
          <p:nvPr/>
        </p:nvPicPr>
        <p:blipFill>
          <a:blip r:embed="rId6"/>
          <a:stretch/>
        </p:blipFill>
        <p:spPr>
          <a:xfrm>
            <a:off x="795600" y="5623560"/>
            <a:ext cx="236160" cy="236160"/>
          </a:xfrm>
          <a:prstGeom prst="rect">
            <a:avLst/>
          </a:prstGeom>
          <a:ln w="0">
            <a:noFill/>
          </a:ln>
        </p:spPr>
      </p:pic>
      <p:sp>
        <p:nvSpPr>
          <p:cNvPr id="78" name="Text 26"/>
          <p:cNvSpPr/>
          <p:nvPr/>
        </p:nvSpPr>
        <p:spPr>
          <a:xfrm>
            <a:off x="1325880" y="5477400"/>
            <a:ext cx="2696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FER-2013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1325880" y="5724000"/>
            <a:ext cx="2696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b79"/>
                </a:solidFill>
                <a:latin typeface="Calibri"/>
                <a:ea typeface="Calibri"/>
              </a:rPr>
              <a:t>Training / testing dataset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4434840" y="1097280"/>
            <a:ext cx="7313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65a82"/>
                </a:solidFill>
                <a:latin typeface="Cambria"/>
                <a:ea typeface="Cambria"/>
              </a:rPr>
              <a:t>Overall Project Flow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4434840" y="1536120"/>
            <a:ext cx="3244680" cy="3826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0"/>
          <p:cNvSpPr/>
          <p:nvPr/>
        </p:nvSpPr>
        <p:spPr>
          <a:xfrm>
            <a:off x="4434840" y="1536120"/>
            <a:ext cx="3244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PHASE 1 — TRAINING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1"/>
          <p:cNvSpPr/>
          <p:nvPr/>
        </p:nvSpPr>
        <p:spPr>
          <a:xfrm>
            <a:off x="4434840" y="204840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4434840" y="204840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FER-2013 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3"/>
          <p:cNvSpPr/>
          <p:nvPr/>
        </p:nvSpPr>
        <p:spPr>
          <a:xfrm>
            <a:off x="4434840" y="250560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4"/>
          <p:cNvSpPr/>
          <p:nvPr/>
        </p:nvSpPr>
        <p:spPr>
          <a:xfrm>
            <a:off x="4434840" y="272484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5"/>
          <p:cNvSpPr/>
          <p:nvPr/>
        </p:nvSpPr>
        <p:spPr>
          <a:xfrm>
            <a:off x="4434840" y="272484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Image Preprocessing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6"/>
          <p:cNvSpPr/>
          <p:nvPr/>
        </p:nvSpPr>
        <p:spPr>
          <a:xfrm>
            <a:off x="4434840" y="318204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7"/>
          <p:cNvSpPr/>
          <p:nvPr/>
        </p:nvSpPr>
        <p:spPr>
          <a:xfrm>
            <a:off x="4434840" y="340164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8"/>
          <p:cNvSpPr/>
          <p:nvPr/>
        </p:nvSpPr>
        <p:spPr>
          <a:xfrm>
            <a:off x="4434840" y="340164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CNN Training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9"/>
          <p:cNvSpPr/>
          <p:nvPr/>
        </p:nvSpPr>
        <p:spPr>
          <a:xfrm>
            <a:off x="4434840" y="385884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40"/>
          <p:cNvSpPr/>
          <p:nvPr/>
        </p:nvSpPr>
        <p:spPr>
          <a:xfrm>
            <a:off x="4434840" y="4078080"/>
            <a:ext cx="3244680" cy="50148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5875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1"/>
          <p:cNvSpPr/>
          <p:nvPr/>
        </p:nvSpPr>
        <p:spPr>
          <a:xfrm>
            <a:off x="4434840" y="4078080"/>
            <a:ext cx="324468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Trained CNN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2"/>
          <p:cNvSpPr/>
          <p:nvPr/>
        </p:nvSpPr>
        <p:spPr>
          <a:xfrm>
            <a:off x="8138160" y="1536120"/>
            <a:ext cx="3244680" cy="3826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3"/>
          <p:cNvSpPr/>
          <p:nvPr/>
        </p:nvSpPr>
        <p:spPr>
          <a:xfrm>
            <a:off x="8138160" y="1536120"/>
            <a:ext cx="3244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PHASE 2 — PREDICTION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4"/>
          <p:cNvSpPr/>
          <p:nvPr/>
        </p:nvSpPr>
        <p:spPr>
          <a:xfrm>
            <a:off x="8138160" y="204840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5"/>
          <p:cNvSpPr/>
          <p:nvPr/>
        </p:nvSpPr>
        <p:spPr>
          <a:xfrm>
            <a:off x="8138160" y="204840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Image / Webcam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6"/>
          <p:cNvSpPr/>
          <p:nvPr/>
        </p:nvSpPr>
        <p:spPr>
          <a:xfrm>
            <a:off x="8138160" y="250560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7"/>
          <p:cNvSpPr/>
          <p:nvPr/>
        </p:nvSpPr>
        <p:spPr>
          <a:xfrm>
            <a:off x="8138160" y="272484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8"/>
          <p:cNvSpPr/>
          <p:nvPr/>
        </p:nvSpPr>
        <p:spPr>
          <a:xfrm>
            <a:off x="8138160" y="272484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OpenCV Face Detection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9"/>
          <p:cNvSpPr/>
          <p:nvPr/>
        </p:nvSpPr>
        <p:spPr>
          <a:xfrm>
            <a:off x="8138160" y="318204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0"/>
          <p:cNvSpPr/>
          <p:nvPr/>
        </p:nvSpPr>
        <p:spPr>
          <a:xfrm>
            <a:off x="8138160" y="340164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1"/>
          <p:cNvSpPr/>
          <p:nvPr/>
        </p:nvSpPr>
        <p:spPr>
          <a:xfrm>
            <a:off x="8138160" y="340164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b2430"/>
                </a:solidFill>
                <a:latin typeface="Calibri"/>
                <a:ea typeface="Calibri"/>
              </a:rPr>
              <a:t>Preprocessing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b2430"/>
                </a:solidFill>
                <a:latin typeface="Calibri"/>
                <a:ea typeface="Calibri"/>
              </a:rPr>
              <a:t>(Grayscale → Resize 48×48 → Normalize)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52"/>
          <p:cNvSpPr/>
          <p:nvPr/>
        </p:nvSpPr>
        <p:spPr>
          <a:xfrm>
            <a:off x="8138160" y="391356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3"/>
          <p:cNvSpPr/>
          <p:nvPr/>
        </p:nvSpPr>
        <p:spPr>
          <a:xfrm>
            <a:off x="8138160" y="413316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4"/>
          <p:cNvSpPr/>
          <p:nvPr/>
        </p:nvSpPr>
        <p:spPr>
          <a:xfrm>
            <a:off x="8138160" y="413316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b2430"/>
                </a:solidFill>
                <a:latin typeface="Calibri"/>
                <a:ea typeface="Calibri"/>
              </a:rPr>
              <a:t>Emotion Prediction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5"/>
          <p:cNvSpPr/>
          <p:nvPr/>
        </p:nvSpPr>
        <p:spPr>
          <a:xfrm>
            <a:off x="8138160" y="4590360"/>
            <a:ext cx="3244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6"/>
          <p:cNvSpPr/>
          <p:nvPr/>
        </p:nvSpPr>
        <p:spPr>
          <a:xfrm>
            <a:off x="8138160" y="4809600"/>
            <a:ext cx="3244680" cy="45576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 w="15875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7"/>
          <p:cNvSpPr/>
          <p:nvPr/>
        </p:nvSpPr>
        <p:spPr>
          <a:xfrm>
            <a:off x="8138160" y="4809600"/>
            <a:ext cx="32446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Streamlit Display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365760"/>
            <a:ext cx="1109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How the System Works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647388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11277360" y="647388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9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48640" y="128016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48640" y="1280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188720" y="12528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Image / Webcam Input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567000" y="1664280"/>
            <a:ext cx="345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548640" y="212148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48640" y="21214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1188720" y="209412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Detect Face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567000" y="2505600"/>
            <a:ext cx="345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548640" y="296280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548640" y="296280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1188720" y="293508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Extract Face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567000" y="3346560"/>
            <a:ext cx="345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548640" y="380376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548640" y="38037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1188720" y="37764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Convert to Grayscale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567000" y="4187880"/>
            <a:ext cx="345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548640" y="464508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548640" y="46450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6"/>
          <p:cNvSpPr/>
          <p:nvPr/>
        </p:nvSpPr>
        <p:spPr>
          <a:xfrm>
            <a:off x="1188720" y="461772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Resize to 48 × 48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7"/>
          <p:cNvSpPr/>
          <p:nvPr/>
        </p:nvSpPr>
        <p:spPr>
          <a:xfrm>
            <a:off x="4343400" y="128016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4343400" y="12801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0"/>
          <p:cNvSpPr/>
          <p:nvPr/>
        </p:nvSpPr>
        <p:spPr>
          <a:xfrm>
            <a:off x="4983480" y="12528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Normalize Image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4361760" y="1664280"/>
            <a:ext cx="345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32"/>
          <p:cNvSpPr/>
          <p:nvPr/>
        </p:nvSpPr>
        <p:spPr>
          <a:xfrm>
            <a:off x="4343400" y="212148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3"/>
          <p:cNvSpPr/>
          <p:nvPr/>
        </p:nvSpPr>
        <p:spPr>
          <a:xfrm>
            <a:off x="4343400" y="212148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5"/>
          <p:cNvSpPr/>
          <p:nvPr/>
        </p:nvSpPr>
        <p:spPr>
          <a:xfrm>
            <a:off x="4983480" y="209412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CNN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7"/>
          <p:cNvSpPr/>
          <p:nvPr/>
        </p:nvSpPr>
        <p:spPr>
          <a:xfrm>
            <a:off x="4343400" y="296280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8"/>
          <p:cNvSpPr/>
          <p:nvPr/>
        </p:nvSpPr>
        <p:spPr>
          <a:xfrm>
            <a:off x="4343400" y="296280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40"/>
          <p:cNvSpPr/>
          <p:nvPr/>
        </p:nvSpPr>
        <p:spPr>
          <a:xfrm>
            <a:off x="4983480" y="293508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Predict Facial Expression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42"/>
          <p:cNvSpPr/>
          <p:nvPr/>
        </p:nvSpPr>
        <p:spPr>
          <a:xfrm>
            <a:off x="4343400" y="3803760"/>
            <a:ext cx="382680" cy="3826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43"/>
          <p:cNvSpPr/>
          <p:nvPr/>
        </p:nvSpPr>
        <p:spPr>
          <a:xfrm>
            <a:off x="4343400" y="380376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45"/>
          <p:cNvSpPr/>
          <p:nvPr/>
        </p:nvSpPr>
        <p:spPr>
          <a:xfrm>
            <a:off x="4983480" y="3776400"/>
            <a:ext cx="26503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2430"/>
                </a:solidFill>
                <a:latin typeface="Calibri"/>
                <a:ea typeface="Calibri"/>
              </a:rPr>
              <a:t>Display Result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8"/>
          <p:cNvSpPr/>
          <p:nvPr/>
        </p:nvSpPr>
        <p:spPr>
          <a:xfrm>
            <a:off x="777240" y="5257800"/>
            <a:ext cx="699516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1b2430"/>
                </a:solidFill>
                <a:latin typeface="Calibri"/>
                <a:ea typeface="Calibri"/>
              </a:rPr>
              <a:t>The input face is converted into a consistent format before being passed to the trained model. The model then predicts the most likely facial-expression category.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49"/>
          <p:cNvSpPr/>
          <p:nvPr/>
        </p:nvSpPr>
        <p:spPr>
          <a:xfrm>
            <a:off x="8183880" y="1234440"/>
            <a:ext cx="3473280" cy="4890600"/>
          </a:xfrm>
          <a:prstGeom prst="roundRect">
            <a:avLst>
              <a:gd name="adj" fmla="val 3158"/>
            </a:avLst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50"/>
          <p:cNvSpPr/>
          <p:nvPr/>
        </p:nvSpPr>
        <p:spPr>
          <a:xfrm>
            <a:off x="8183880" y="1444680"/>
            <a:ext cx="34732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adcfc"/>
                </a:solidFill>
                <a:latin typeface="Cambria"/>
                <a:ea typeface="Cambria"/>
              </a:rPr>
              <a:t>Example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51"/>
          <p:cNvSpPr/>
          <p:nvPr/>
        </p:nvSpPr>
        <p:spPr>
          <a:xfrm>
            <a:off x="8549640" y="1965960"/>
            <a:ext cx="2741760" cy="7758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Image 0" descr="/home/claude/pptx_proj/icon_face.png"/>
          <p:cNvPicPr/>
          <p:nvPr/>
        </p:nvPicPr>
        <p:blipFill>
          <a:blip r:embed="rId1"/>
          <a:stretch/>
        </p:blipFill>
        <p:spPr>
          <a:xfrm>
            <a:off x="8732520" y="2148840"/>
            <a:ext cx="410040" cy="410040"/>
          </a:xfrm>
          <a:prstGeom prst="rect">
            <a:avLst/>
          </a:prstGeom>
          <a:ln w="0">
            <a:noFill/>
          </a:ln>
        </p:spPr>
      </p:pic>
      <p:sp>
        <p:nvSpPr>
          <p:cNvPr id="150" name="Text 52"/>
          <p:cNvSpPr/>
          <p:nvPr/>
        </p:nvSpPr>
        <p:spPr>
          <a:xfrm>
            <a:off x="9281160" y="1965960"/>
            <a:ext cx="19188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Input Face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53"/>
          <p:cNvSpPr/>
          <p:nvPr/>
        </p:nvSpPr>
        <p:spPr>
          <a:xfrm>
            <a:off x="8549640" y="2743200"/>
            <a:ext cx="27417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54"/>
          <p:cNvSpPr/>
          <p:nvPr/>
        </p:nvSpPr>
        <p:spPr>
          <a:xfrm>
            <a:off x="8549640" y="2999160"/>
            <a:ext cx="2741760" cy="7758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Image 1" descr="/home/claude/pptx_proj/icon_brain.png"/>
          <p:cNvPicPr/>
          <p:nvPr/>
        </p:nvPicPr>
        <p:blipFill>
          <a:blip r:embed="rId2"/>
          <a:stretch/>
        </p:blipFill>
        <p:spPr>
          <a:xfrm>
            <a:off x="8732520" y="3182040"/>
            <a:ext cx="410040" cy="410040"/>
          </a:xfrm>
          <a:prstGeom prst="rect">
            <a:avLst/>
          </a:prstGeom>
          <a:ln w="0">
            <a:noFill/>
          </a:ln>
        </p:spPr>
      </p:pic>
      <p:sp>
        <p:nvSpPr>
          <p:cNvPr id="154" name="Text 55"/>
          <p:cNvSpPr/>
          <p:nvPr/>
        </p:nvSpPr>
        <p:spPr>
          <a:xfrm>
            <a:off x="9281160" y="2999160"/>
            <a:ext cx="19188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Image 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56"/>
          <p:cNvSpPr/>
          <p:nvPr/>
        </p:nvSpPr>
        <p:spPr>
          <a:xfrm>
            <a:off x="8549640" y="3776400"/>
            <a:ext cx="27417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2c39a"/>
                </a:solidFill>
                <a:latin typeface="Calibri"/>
                <a:ea typeface="Calibri"/>
              </a:rPr>
              <a:t>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57"/>
          <p:cNvSpPr/>
          <p:nvPr/>
        </p:nvSpPr>
        <p:spPr>
          <a:xfrm>
            <a:off x="8549640" y="4032360"/>
            <a:ext cx="2741760" cy="77580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2" descr="/home/claude/pptx_proj/icon_check.png"/>
          <p:cNvPicPr/>
          <p:nvPr/>
        </p:nvPicPr>
        <p:blipFill>
          <a:blip r:embed="rId3"/>
          <a:stretch/>
        </p:blipFill>
        <p:spPr>
          <a:xfrm>
            <a:off x="8732520" y="4215240"/>
            <a:ext cx="410040" cy="410040"/>
          </a:xfrm>
          <a:prstGeom prst="rect">
            <a:avLst/>
          </a:prstGeom>
          <a:ln w="0">
            <a:noFill/>
          </a:ln>
        </p:spPr>
      </p:pic>
      <p:sp>
        <p:nvSpPr>
          <p:cNvPr id="158" name="Text 58"/>
          <p:cNvSpPr/>
          <p:nvPr/>
        </p:nvSpPr>
        <p:spPr>
          <a:xfrm>
            <a:off x="9281160" y="4032360"/>
            <a:ext cx="19188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CNN Prediction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59"/>
          <p:cNvSpPr/>
          <p:nvPr/>
        </p:nvSpPr>
        <p:spPr>
          <a:xfrm>
            <a:off x="8549640" y="4946760"/>
            <a:ext cx="2741760" cy="63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60"/>
          <p:cNvSpPr/>
          <p:nvPr/>
        </p:nvSpPr>
        <p:spPr>
          <a:xfrm>
            <a:off x="8641080" y="4946760"/>
            <a:ext cx="25588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"Happy" — predicted expression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48640" y="365760"/>
            <a:ext cx="1109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Limitations &amp; Future Scope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548640" y="647388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277360" y="6473880"/>
            <a:ext cx="455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9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280160" y="1398960"/>
            <a:ext cx="4387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b85042"/>
                </a:solidFill>
                <a:latin typeface="Cambria"/>
                <a:ea typeface="Cambria"/>
              </a:rPr>
              <a:t>Limitations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868680" y="202068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1097280" y="189288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Poor lighting can affect face detection and prediction.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868680" y="264276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1097280" y="251460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Side-facing or partially hidden faces may reduce performance.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868680" y="326448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1097280" y="313632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Masks, glasses, or hands can hide important facial features.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868680" y="388620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1097280" y="375804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Similar facial expressions can be difficult to distinguish.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868680" y="450792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1097280" y="438012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Performance depends on the quality and diversity of the dataset.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868680" y="5129640"/>
            <a:ext cx="81000" cy="81000"/>
          </a:xfrm>
          <a:prstGeom prst="ellipse">
            <a:avLst/>
          </a:prstGeom>
          <a:solidFill>
            <a:srgbClr val="b85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1097280" y="500184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Facial expression does not always represent a person's actual emotion.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6813720" y="1446120"/>
            <a:ext cx="4387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mbria"/>
                <a:ea typeface="Cambria"/>
              </a:rPr>
              <a:t>Future Scope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6629400" y="2020680"/>
            <a:ext cx="36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6812280" y="251460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Improve the CNN model and training process.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6812280" y="251460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6583680" y="326448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6812280" y="313632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Support multiple faces in a single frame.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6583680" y="388620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6"/>
          <p:cNvSpPr/>
          <p:nvPr/>
        </p:nvSpPr>
        <p:spPr>
          <a:xfrm>
            <a:off x="6812280" y="375804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Improve real-time webcam performance.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6583680" y="450792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6812280" y="438012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Deploy the application as a web-based system.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6583680" y="512964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0"/>
          <p:cNvSpPr/>
          <p:nvPr/>
        </p:nvSpPr>
        <p:spPr>
          <a:xfrm>
            <a:off x="6812280" y="5001840"/>
            <a:ext cx="4616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2430"/>
                </a:solidFill>
                <a:latin typeface="Calibri"/>
                <a:ea typeface="Calibri"/>
              </a:rPr>
              <a:t>Evaluate the model using accuracy and confusion matrix.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2"/>
          <p:cNvSpPr/>
          <p:nvPr/>
        </p:nvSpPr>
        <p:spPr>
          <a:xfrm>
            <a:off x="548640" y="5650920"/>
            <a:ext cx="1106280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Goal: Build a lightweight and accessible facial-expression classification system.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6583680" y="512964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6583680" y="512964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6583680" y="512964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6583680" y="5129640"/>
            <a:ext cx="81000" cy="81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 flipV="1">
            <a:off x="6565320" y="2605680"/>
            <a:ext cx="82440" cy="824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2026-08-16T09:31:24Z</dcterms:created>
  <dc:creator>PptxGenJS</dc:creator>
  <dc:description/>
  <dc:language>en-US</dc:language>
  <cp:lastModifiedBy/>
  <dcterms:modified xsi:type="dcterms:W3CDTF">2026-08-23T14:33:27Z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